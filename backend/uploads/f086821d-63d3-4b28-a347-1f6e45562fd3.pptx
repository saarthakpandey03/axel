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73" r:id="rId10"/>
    <p:sldId id="270" r:id="rId11"/>
    <p:sldId id="271" r:id="rId12"/>
    <p:sldId id="27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7" d="100"/>
          <a:sy n="107" d="100"/>
        </p:scale>
        <p:origin x="17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3023" y="201612"/>
            <a:ext cx="7772400" cy="1537541"/>
          </a:xfrm>
        </p:spPr>
        <p:txBody>
          <a:bodyPr>
            <a:normAutofit/>
          </a:bodyPr>
          <a:lstStyle/>
          <a:p>
            <a:pPr>
              <a:spcBef>
                <a:spcPts val="1200"/>
              </a:spcBef>
            </a:pPr>
            <a:r>
              <a:rPr lang="en-US" sz="2400" b="1" dirty="0">
                <a:latin typeface="Times New Roman" panose="02020603050405020304" pitchFamily="18" charset="0"/>
                <a:cs typeface="Times New Roman" panose="02020603050405020304" pitchFamily="18" charset="0"/>
              </a:rPr>
              <a:t>Project (BCS-753) Presentation </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on</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TITLE</a:t>
            </a:r>
            <a:endParaRPr sz="2400" dirty="0"/>
          </a:p>
        </p:txBody>
      </p:sp>
      <p:sp>
        <p:nvSpPr>
          <p:cNvPr id="3" name="Subtitle 2"/>
          <p:cNvSpPr>
            <a:spLocks noGrp="1"/>
          </p:cNvSpPr>
          <p:nvPr>
            <p:ph type="subTitle" idx="1"/>
          </p:nvPr>
        </p:nvSpPr>
        <p:spPr>
          <a:xfrm>
            <a:off x="1488140" y="3541984"/>
            <a:ext cx="6400800" cy="1908284"/>
          </a:xfrm>
        </p:spPr>
        <p:txBody>
          <a:bodyPr>
            <a:normAutofit/>
          </a:bodyPr>
          <a:lstStyle/>
          <a:p>
            <a:pPr algn="l"/>
            <a:r>
              <a:rPr lang="en-US" sz="2000" b="1" dirty="0">
                <a:latin typeface="Times New Roman" panose="02020603050405020304" pitchFamily="18" charset="0"/>
                <a:ea typeface="Times New Roman" panose="02020603050405020304" pitchFamily="18" charset="0"/>
                <a:cs typeface="Times New Roman" panose="02020603050405020304" pitchFamily="18" charset="0"/>
              </a:rPr>
              <a:t>Supervisor:                                            Submitted by:</a:t>
            </a:r>
          </a:p>
          <a:p>
            <a:pPr algn="l"/>
            <a:r>
              <a:rPr lang="en-IN" sz="2000" dirty="0">
                <a:latin typeface="Times New Roman" panose="02020603050405020304" pitchFamily="18" charset="0"/>
                <a:cs typeface="Times New Roman" panose="02020603050405020304" pitchFamily="18" charset="0"/>
              </a:rPr>
              <a:t>Name                                                       Student1(Roll No)</a:t>
            </a:r>
          </a:p>
          <a:p>
            <a:pPr algn="l"/>
            <a:r>
              <a:rPr lang="en-IN" sz="2000" dirty="0">
                <a:latin typeface="Times New Roman" panose="02020603050405020304" pitchFamily="18" charset="0"/>
                <a:cs typeface="Times New Roman" panose="02020603050405020304" pitchFamily="18" charset="0"/>
              </a:rPr>
              <a:t>Designation                                             Student2(Roll No)</a:t>
            </a:r>
          </a:p>
          <a:p>
            <a:pPr algn="l"/>
            <a:r>
              <a:rPr lang="en-IN" sz="2000" dirty="0">
                <a:latin typeface="Times New Roman" panose="02020603050405020304" pitchFamily="18" charset="0"/>
                <a:cs typeface="Times New Roman" panose="02020603050405020304" pitchFamily="18" charset="0"/>
              </a:rPr>
              <a:t>Department                                             Student3(Roll No)</a:t>
            </a:r>
          </a:p>
          <a:p>
            <a:pPr algn="l"/>
            <a:r>
              <a:rPr lang="en-IN" sz="2000" dirty="0"/>
              <a:t>                                                                       </a:t>
            </a:r>
            <a:r>
              <a:rPr lang="en-IN" sz="2000" dirty="0">
                <a:latin typeface="Times New Roman" panose="02020603050405020304" pitchFamily="18" charset="0"/>
                <a:cs typeface="Times New Roman" panose="02020603050405020304" pitchFamily="18" charset="0"/>
              </a:rPr>
              <a:t>Student4(Roll No)</a:t>
            </a:r>
            <a:endParaRPr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27228E7-D5D1-E25B-388D-6890F4559A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1220" y="1739153"/>
            <a:ext cx="1254641" cy="1219432"/>
          </a:xfrm>
          <a:prstGeom prst="rect">
            <a:avLst/>
          </a:prstGeom>
        </p:spPr>
      </p:pic>
      <p:sp>
        <p:nvSpPr>
          <p:cNvPr id="6" name="TextBox 5">
            <a:extLst>
              <a:ext uri="{FF2B5EF4-FFF2-40B4-BE49-F238E27FC236}">
                <a16:creationId xmlns:a16="http://schemas.microsoft.com/office/drawing/2014/main" id="{227C1986-BBBD-640A-F22D-1F74F6DAEA8E}"/>
              </a:ext>
            </a:extLst>
          </p:cNvPr>
          <p:cNvSpPr txBox="1"/>
          <p:nvPr/>
        </p:nvSpPr>
        <p:spPr>
          <a:xfrm>
            <a:off x="2617692" y="2970725"/>
            <a:ext cx="4186519" cy="400110"/>
          </a:xfrm>
          <a:prstGeom prst="rect">
            <a:avLst/>
          </a:prstGeom>
          <a:noFill/>
        </p:spPr>
        <p:txBody>
          <a:bodyPr wrap="square" rtlCol="0">
            <a:spAutoFit/>
          </a:bodyPr>
          <a:lstStyle/>
          <a:p>
            <a:pPr algn="ct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Group Number-26MPA__</a:t>
            </a:r>
          </a:p>
        </p:txBody>
      </p:sp>
      <p:sp>
        <p:nvSpPr>
          <p:cNvPr id="8" name="TextBox 7">
            <a:extLst>
              <a:ext uri="{FF2B5EF4-FFF2-40B4-BE49-F238E27FC236}">
                <a16:creationId xmlns:a16="http://schemas.microsoft.com/office/drawing/2014/main" id="{B02D779C-CBE1-B9B2-CAF5-C5F7CF1B6376}"/>
              </a:ext>
            </a:extLst>
          </p:cNvPr>
          <p:cNvSpPr txBox="1"/>
          <p:nvPr/>
        </p:nvSpPr>
        <p:spPr>
          <a:xfrm>
            <a:off x="1474693" y="5462408"/>
            <a:ext cx="6589060" cy="1323439"/>
          </a:xfrm>
          <a:prstGeom prst="rect">
            <a:avLst/>
          </a:prstGeom>
          <a:noFill/>
        </p:spPr>
        <p:txBody>
          <a:bodyPr wrap="square">
            <a:spAutoFit/>
          </a:bodyPr>
          <a:lstStyle/>
          <a:p>
            <a:pPr indent="92075" algn="ctr" fontAlgn="base">
              <a:spcBef>
                <a:spcPct val="0"/>
              </a:spcBef>
              <a:spcAft>
                <a:spcPct val="0"/>
              </a:spcAft>
            </a:pPr>
            <a:r>
              <a:rPr lang="en-US" sz="2000" b="1" dirty="0">
                <a:latin typeface="Times New Roman" panose="02020603050405020304" pitchFamily="18" charset="0"/>
                <a:cs typeface="Times New Roman" panose="02020603050405020304" pitchFamily="18" charset="0"/>
              </a:rPr>
              <a:t>Department  of Computer Science &amp; Engineering</a:t>
            </a:r>
            <a:endParaRPr lang="en-IN" sz="2000" b="1" dirty="0">
              <a:latin typeface="Times New Roman" panose="02020603050405020304" pitchFamily="18" charset="0"/>
              <a:cs typeface="Times New Roman" panose="02020603050405020304" pitchFamily="18" charset="0"/>
            </a:endParaRPr>
          </a:p>
          <a:p>
            <a:pPr marL="0" marR="0" lvl="0" indent="92075" algn="ctr"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IMS Engineering College, Ghaziabad</a:t>
            </a:r>
          </a:p>
          <a:p>
            <a:pPr marL="0" marR="0" lvl="0" indent="92075" algn="ctr" defTabSz="914400" rtl="0" eaLnBrk="0" fontAlgn="base" latinLnBrk="0" hangingPunct="0">
              <a:lnSpc>
                <a:spcPct val="100000"/>
              </a:lnSpc>
              <a:spcBef>
                <a:spcPct val="0"/>
              </a:spcBef>
              <a:spcAft>
                <a:spcPct val="0"/>
              </a:spcAft>
              <a:buClrTx/>
              <a:buSzTx/>
              <a:buFontTx/>
              <a:buNone/>
            </a:pPr>
            <a:r>
              <a:rPr lang="en-US" sz="2000" dirty="0">
                <a:latin typeface="Times New Roman" panose="02020603050405020304" pitchFamily="18" charset="0"/>
                <a:cs typeface="Times New Roman" panose="02020603050405020304" pitchFamily="18" charset="0"/>
              </a:rPr>
              <a:t>Dr. A.P.J Abdul Kalam Technical University, Lucknow</a:t>
            </a:r>
          </a:p>
          <a:p>
            <a:pPr marL="0" marR="0" lvl="0" indent="92075" algn="ctr"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(2026-27)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TextBox 2"/>
          <p:cNvSpPr txBox="1"/>
          <p:nvPr/>
        </p:nvSpPr>
        <p:spPr>
          <a:xfrm>
            <a:off x="457200" y="1417320"/>
            <a:ext cx="8229600" cy="4892040"/>
          </a:xfrm>
          <a:prstGeom prst="rect">
            <a:avLst/>
          </a:prstGeom>
          <a:noFill/>
        </p:spPr>
        <p:txBody>
          <a:bodyPr wrap="square" anchor="t" lIns="0" rIns="0" tIns="0" bIns="0">
            <a:spAutoFit/>
          </a:bodyPr>
          <a:lstStyle/>
          <a:p>
            <a:pPr>
              <a:spcAft>
                <a:spcPts val="400"/>
              </a:spcAft>
            </a:pPr>
            <a:r>
              <a:rPr sz="2000" b="1" i="0">
                <a:solidFill>
                  <a:srgbClr val="028090"/>
                </a:solidFill>
                <a:latin typeface="Calibri"/>
              </a:rPr>
              <a:t>Background</a:t>
            </a:r>
          </a:p>
          <a:p>
            <a:pPr>
              <a:spcAft>
                <a:spcPts val="1600"/>
              </a:spcAft>
            </a:pPr>
            <a:r>
              <a:rPr sz="1600" b="0" i="0">
                <a:solidFill>
                  <a:srgbClr val="212B2E"/>
                </a:solidFill>
                <a:latin typeface="Calibri"/>
              </a:rPr>
              <a:t>•  Local skilled workers and small businesses exist in every neighborhood, but most still rely on word-of-mouth to find customers.</a:t>
            </a:r>
          </a:p>
          <a:p>
            <a:pPr>
              <a:spcAft>
                <a:spcPts val="400"/>
              </a:spcAft>
            </a:pPr>
            <a:r>
              <a:rPr sz="2000" b="1" i="0">
                <a:solidFill>
                  <a:srgbClr val="028090"/>
                </a:solidFill>
                <a:latin typeface="Calibri"/>
              </a:rPr>
              <a:t>Need of the project</a:t>
            </a:r>
          </a:p>
          <a:p>
            <a:pPr>
              <a:spcAft>
                <a:spcPts val="1600"/>
              </a:spcAft>
            </a:pPr>
            <a:r>
              <a:rPr sz="1600" b="0" i="0">
                <a:solidFill>
                  <a:srgbClr val="212B2E"/>
                </a:solidFill>
                <a:latin typeface="Calibri"/>
              </a:rPr>
              <a:t>•  Customers find it difficult to locate and trust nearby service providers, while providers struggle to build a digital presence.</a:t>
            </a:r>
          </a:p>
          <a:p>
            <a:pPr>
              <a:spcAft>
                <a:spcPts val="400"/>
              </a:spcAft>
            </a:pPr>
            <a:r>
              <a:rPr sz="2000" b="1" i="0">
                <a:solidFill>
                  <a:srgbClr val="028090"/>
                </a:solidFill>
                <a:latin typeface="Calibri"/>
              </a:rPr>
              <a:t>Overview</a:t>
            </a:r>
          </a:p>
          <a:p>
            <a:pPr>
              <a:spcAft>
                <a:spcPts val="1600"/>
              </a:spcAft>
            </a:pPr>
            <a:r>
              <a:rPr sz="1600" b="0" i="0">
                <a:solidFill>
                  <a:srgbClr val="212B2E"/>
                </a:solidFill>
                <a:latin typeface="Calibri"/>
              </a:rPr>
              <a:t>•  Saviyo (Service + You) is a hyperlocal service marketplace app connecting customers with nearby skilled workers and small businesses.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TextBox 2"/>
          <p:cNvSpPr txBox="1"/>
          <p:nvPr/>
        </p:nvSpPr>
        <p:spPr>
          <a:xfrm>
            <a:off x="457200" y="1417320"/>
            <a:ext cx="8229600" cy="4892040"/>
          </a:xfrm>
          <a:prstGeom prst="rect">
            <a:avLst/>
          </a:prstGeom>
          <a:noFill/>
        </p:spPr>
        <p:txBody>
          <a:bodyPr wrap="square" anchor="t" lIns="0" rIns="0" tIns="0" bIns="0">
            <a:spAutoFit/>
          </a:bodyPr>
          <a:lstStyle/>
          <a:p>
            <a:pPr>
              <a:spcAft>
                <a:spcPts val="400"/>
              </a:spcAft>
            </a:pPr>
            <a:r>
              <a:rPr sz="2000" b="1" i="0">
                <a:solidFill>
                  <a:srgbClr val="028090"/>
                </a:solidFill>
                <a:latin typeface="Calibri"/>
              </a:rPr>
              <a:t>Existing issues</a:t>
            </a:r>
          </a:p>
          <a:p>
            <a:pPr>
              <a:spcAft>
                <a:spcPts val="1200"/>
              </a:spcAft>
            </a:pPr>
            <a:r>
              <a:rPr sz="1600" b="0" i="0">
                <a:solidFill>
                  <a:srgbClr val="212B2E"/>
                </a:solidFill>
                <a:latin typeface="Calibri"/>
              </a:rPr>
              <a:t>•  Platforms like Urban Company, Sulekha, Housejoy and JustDial mainly target larger urban markets.</a:t>
            </a:r>
          </a:p>
          <a:p>
            <a:pPr>
              <a:spcAft>
                <a:spcPts val="1200"/>
              </a:spcAft>
            </a:pPr>
            <a:r>
              <a:rPr sz="1600" b="0" i="0">
                <a:solidFill>
                  <a:srgbClr val="212B2E"/>
                </a:solidFill>
                <a:latin typeface="Calibri"/>
              </a:rPr>
              <a:t>•  High commission structures reduce provider earnings.</a:t>
            </a:r>
          </a:p>
          <a:p>
            <a:pPr>
              <a:spcAft>
                <a:spcPts val="1200"/>
              </a:spcAft>
            </a:pPr>
            <a:r>
              <a:rPr sz="1600" b="0" i="0">
                <a:solidFill>
                  <a:srgbClr val="212B2E"/>
                </a:solidFill>
                <a:latin typeface="Calibri"/>
              </a:rPr>
              <a:t>•  Limited support and visibility for independent local workers.</a:t>
            </a:r>
          </a:p>
          <a:p>
            <a:pPr>
              <a:spcAft>
                <a:spcPts val="400"/>
              </a:spcAft>
            </a:pPr>
            <a:r>
              <a:rPr sz="2000" b="1" i="0">
                <a:solidFill>
                  <a:srgbClr val="028090"/>
                </a:solidFill>
                <a:latin typeface="Calibri"/>
              </a:rPr>
              <a:t>Motivation</a:t>
            </a:r>
          </a:p>
          <a:p>
            <a:pPr>
              <a:spcAft>
                <a:spcPts val="1200"/>
              </a:spcAft>
            </a:pPr>
            <a:r>
              <a:rPr sz="1600" b="0" i="0">
                <a:solidFill>
                  <a:srgbClr val="212B2E"/>
                </a:solidFill>
                <a:latin typeface="Calibri"/>
              </a:rPr>
              <a:t>•  A need exists for a hyperlocal, low-commission and trust-driven platform that supports both small businesses and everyday customers.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TextBox 2"/>
          <p:cNvSpPr txBox="1"/>
          <p:nvPr/>
        </p:nvSpPr>
        <p:spPr>
          <a:xfrm>
            <a:off x="457200" y="1417320"/>
            <a:ext cx="8229600" cy="4892040"/>
          </a:xfrm>
          <a:prstGeom prst="rect">
            <a:avLst/>
          </a:prstGeom>
          <a:noFill/>
        </p:spPr>
        <p:txBody>
          <a:bodyPr wrap="square" anchor="t" lIns="0" rIns="0" tIns="0" bIns="0">
            <a:spAutoFit/>
          </a:bodyPr>
          <a:lstStyle/>
          <a:p>
            <a:pPr>
              <a:spcAft>
                <a:spcPts val="1800"/>
              </a:spcAft>
            </a:pPr>
            <a:r>
              <a:rPr sz="1800" b="1" i="0">
                <a:solidFill>
                  <a:srgbClr val="028090"/>
                </a:solidFill>
                <a:latin typeface="Calibri"/>
              </a:rPr>
              <a:t>1.  </a:t>
            </a:r>
            <a:r>
              <a:rPr sz="1800" b="0" i="0">
                <a:solidFill>
                  <a:srgbClr val="212B2E"/>
                </a:solidFill>
                <a:latin typeface="Calibri"/>
              </a:rPr>
              <a:t>Build a hyperlocal marketplace connecting customers with nearby skilled workers and small businesses.</a:t>
            </a:r>
          </a:p>
          <a:p>
            <a:pPr>
              <a:spcAft>
                <a:spcPts val="1800"/>
              </a:spcAft>
            </a:pPr>
            <a:r>
              <a:rPr sz="1800" b="1" i="0">
                <a:solidFill>
                  <a:srgbClr val="028090"/>
                </a:solidFill>
                <a:latin typeface="Calibri"/>
              </a:rPr>
              <a:t>2.  </a:t>
            </a:r>
            <a:r>
              <a:rPr sz="1800" b="0" i="0">
                <a:solidFill>
                  <a:srgbClr val="212B2E"/>
                </a:solidFill>
                <a:latin typeface="Calibri"/>
              </a:rPr>
              <a:t>Enable trust through detailed, portfolio-based service provider profiles.</a:t>
            </a:r>
          </a:p>
          <a:p>
            <a:pPr>
              <a:spcAft>
                <a:spcPts val="1800"/>
              </a:spcAft>
            </a:pPr>
            <a:r>
              <a:rPr sz="1800" b="1" i="0">
                <a:solidFill>
                  <a:srgbClr val="028090"/>
                </a:solidFill>
                <a:latin typeface="Calibri"/>
              </a:rPr>
              <a:t>3.  </a:t>
            </a:r>
            <a:r>
              <a:rPr sz="1800" b="0" i="0">
                <a:solidFill>
                  <a:srgbClr val="212B2E"/>
                </a:solidFill>
                <a:latin typeface="Calibri"/>
              </a:rPr>
              <a:t>Provide a smart-matching system and emergency service support for faster bookings.</a:t>
            </a:r>
          </a:p>
          <a:p>
            <a:pPr>
              <a:spcAft>
                <a:spcPts val="1800"/>
              </a:spcAft>
            </a:pPr>
            <a:r>
              <a:rPr sz="1800" b="1" i="0">
                <a:solidFill>
                  <a:srgbClr val="028090"/>
                </a:solidFill>
                <a:latin typeface="Calibri"/>
              </a:rPr>
              <a:t>4.  </a:t>
            </a:r>
            <a:r>
              <a:rPr sz="1800" b="0" i="0">
                <a:solidFill>
                  <a:srgbClr val="212B2E"/>
                </a:solidFill>
                <a:latin typeface="Calibri"/>
              </a:rPr>
              <a:t>Give independent workers and small businesses an affordable, low-commission digital presence to grow.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Literature Survey</a:t>
            </a:r>
          </a:p>
        </p:txBody>
      </p:sp>
      <p:graphicFrame>
        <p:nvGraphicFramePr>
          <p:cNvPr id="3" name="Table 2"/>
          <p:cNvGraphicFramePr>
            <a:graphicFrameLocks noGrp="1"/>
          </p:cNvGraphicFramePr>
          <p:nvPr/>
        </p:nvGraphicFramePr>
        <p:xfrm>
          <a:off x="457200" y="1371600"/>
          <a:ext cx="8229600" cy="4937760"/>
        </p:xfrm>
        <a:graphic>
          <a:graphicData uri="http://schemas.openxmlformats.org/drawingml/2006/table">
            <a:tbl>
              <a:tblPr firstRow="1" bandRow="1">
                <a:tableStyleId>{5C22544A-7EE6-4342-B048-85BDC9FD1C3A}</a:tableStyleId>
              </a:tblPr>
              <a:tblGrid>
                <a:gridCol w="457200"/>
                <a:gridCol w="3931920"/>
                <a:gridCol w="3840480"/>
              </a:tblGrid>
              <a:tr h="617220">
                <a:tc>
                  <a:txBody>
                    <a:bodyPr wrap="square"/>
                    <a:lstStyle/>
                    <a:p>
                      <a:r>
                        <a:rPr sz="1300" b="1" i="0">
                          <a:solidFill>
                            <a:srgbClr val="FFFFFF"/>
                          </a:solidFill>
                          <a:latin typeface="Calibri"/>
                        </a:rPr>
                        <a:t>#</a:t>
                      </a:r>
                    </a:p>
                  </a:txBody>
                  <a:tcPr marL="73152" marR="73152" marT="36576" marB="36576" anchor="ctr">
                    <a:solidFill>
                      <a:srgbClr val="028090"/>
                    </a:solidFill>
                  </a:tcPr>
                </a:tc>
                <a:tc>
                  <a:txBody>
                    <a:bodyPr wrap="square"/>
                    <a:lstStyle/>
                    <a:p>
                      <a:r>
                        <a:rPr sz="1300" b="1" i="0">
                          <a:solidFill>
                            <a:srgbClr val="FFFFFF"/>
                          </a:solidFill>
                          <a:latin typeface="Calibri"/>
                        </a:rPr>
                        <a:t>Study (Year)</a:t>
                      </a:r>
                    </a:p>
                  </a:txBody>
                  <a:tcPr marL="73152" marR="73152" marT="36576" marB="36576" anchor="ctr">
                    <a:solidFill>
                      <a:srgbClr val="028090"/>
                    </a:solidFill>
                  </a:tcPr>
                </a:tc>
                <a:tc>
                  <a:txBody>
                    <a:bodyPr wrap="square"/>
                    <a:lstStyle/>
                    <a:p>
                      <a:r>
                        <a:rPr sz="1300" b="1" i="0">
                          <a:solidFill>
                            <a:srgbClr val="FFFFFF"/>
                          </a:solidFill>
                          <a:latin typeface="Calibri"/>
                        </a:rPr>
                        <a:t>Key Focus / Finding</a:t>
                      </a:r>
                    </a:p>
                  </a:txBody>
                  <a:tcPr marL="73152" marR="73152" marT="36576" marB="36576" anchor="ctr">
                    <a:solidFill>
                      <a:srgbClr val="028090"/>
                    </a:solidFill>
                  </a:tcPr>
                </a:tc>
              </a:tr>
              <a:tr h="617220">
                <a:tc>
                  <a:txBody>
                    <a:bodyPr wrap="square"/>
                    <a:lstStyle/>
                    <a:p>
                      <a:r>
                        <a:rPr sz="1150" b="0" i="0">
                          <a:solidFill>
                            <a:srgbClr val="212B2E"/>
                          </a:solidFill>
                          <a:latin typeface="Calibri"/>
                        </a:rPr>
                        <a:t>1</a:t>
                      </a:r>
                    </a:p>
                  </a:txBody>
                  <a:tcPr marL="73152" marR="73152" marT="36576" marB="36576" anchor="ctr">
                    <a:solidFill>
                      <a:srgbClr val="F7FBFB"/>
                    </a:solidFill>
                  </a:tcPr>
                </a:tc>
                <a:tc>
                  <a:txBody>
                    <a:bodyPr wrap="square"/>
                    <a:lstStyle/>
                    <a:p>
                      <a:r>
                        <a:rPr sz="1150" b="0" i="0">
                          <a:solidFill>
                            <a:srgbClr val="212B2E"/>
                          </a:solidFill>
                          <a:latin typeface="Calibri"/>
                        </a:rPr>
                        <a:t>Hyperlocal marketplace: transforming unorganized markets with future tech (2024)</a:t>
                      </a:r>
                    </a:p>
                  </a:txBody>
                  <a:tcPr marL="73152" marR="73152" marT="36576" marB="36576" anchor="ctr">
                    <a:solidFill>
                      <a:srgbClr val="F7FBFB"/>
                    </a:solidFill>
                  </a:tcPr>
                </a:tc>
                <a:tc>
                  <a:txBody>
                    <a:bodyPr wrap="square"/>
                    <a:lstStyle/>
                    <a:p>
                      <a:r>
                        <a:rPr sz="1150" b="0" i="0">
                          <a:solidFill>
                            <a:srgbClr val="212B2E"/>
                          </a:solidFill>
                          <a:latin typeface="Calibri"/>
                        </a:rPr>
                        <a:t>Use cases and technology architecture for digitized hyperlocal marketplaces</a:t>
                      </a:r>
                    </a:p>
                  </a:txBody>
                  <a:tcPr marL="73152" marR="73152" marT="36576" marB="36576" anchor="ctr">
                    <a:solidFill>
                      <a:srgbClr val="F7FBFB"/>
                    </a:solidFill>
                  </a:tcPr>
                </a:tc>
              </a:tr>
              <a:tr h="617220">
                <a:tc>
                  <a:txBody>
                    <a:bodyPr wrap="square"/>
                    <a:lstStyle/>
                    <a:p>
                      <a:r>
                        <a:rPr sz="1150" b="0" i="0">
                          <a:solidFill>
                            <a:srgbClr val="212B2E"/>
                          </a:solidFill>
                          <a:latin typeface="Calibri"/>
                        </a:rPr>
                        <a:t>2</a:t>
                      </a:r>
                    </a:p>
                  </a:txBody>
                  <a:tcPr marL="73152" marR="73152" marT="36576" marB="36576" anchor="ctr">
                    <a:solidFill>
                      <a:srgbClr val="FFFFFF"/>
                    </a:solidFill>
                  </a:tcPr>
                </a:tc>
                <a:tc>
                  <a:txBody>
                    <a:bodyPr wrap="square"/>
                    <a:lstStyle/>
                    <a:p>
                      <a:r>
                        <a:rPr sz="1150" b="0" i="0">
                          <a:solidFill>
                            <a:srgbClr val="212B2E"/>
                          </a:solidFill>
                          <a:latin typeface="Calibri"/>
                        </a:rPr>
                        <a:t>MVP analysis in hyperlocal marketplace apps, Budiarjo et al. (2022)</a:t>
                      </a:r>
                    </a:p>
                  </a:txBody>
                  <a:tcPr marL="73152" marR="73152" marT="36576" marB="36576" anchor="ctr">
                    <a:solidFill>
                      <a:srgbClr val="FFFFFF"/>
                    </a:solidFill>
                  </a:tcPr>
                </a:tc>
                <a:tc>
                  <a:txBody>
                    <a:bodyPr wrap="square"/>
                    <a:lstStyle/>
                    <a:p>
                      <a:r>
                        <a:rPr sz="1150" b="0" i="0">
                          <a:solidFill>
                            <a:srgbClr val="212B2E"/>
                          </a:solidFill>
                          <a:latin typeface="Calibri"/>
                        </a:rPr>
                        <a:t>Customer development method to reach product-market fit for hyperlocal startups</a:t>
                      </a:r>
                    </a:p>
                  </a:txBody>
                  <a:tcPr marL="73152" marR="73152" marT="36576" marB="36576" anchor="ctr">
                    <a:solidFill>
                      <a:srgbClr val="FFFFFF"/>
                    </a:solidFill>
                  </a:tcPr>
                </a:tc>
              </a:tr>
              <a:tr h="617220">
                <a:tc>
                  <a:txBody>
                    <a:bodyPr wrap="square"/>
                    <a:lstStyle/>
                    <a:p>
                      <a:r>
                        <a:rPr sz="1150" b="0" i="0">
                          <a:solidFill>
                            <a:srgbClr val="212B2E"/>
                          </a:solidFill>
                          <a:latin typeface="Calibri"/>
                        </a:rPr>
                        <a:t>3</a:t>
                      </a:r>
                    </a:p>
                  </a:txBody>
                  <a:tcPr marL="73152" marR="73152" marT="36576" marB="36576" anchor="ctr">
                    <a:solidFill>
                      <a:srgbClr val="F7FBFB"/>
                    </a:solidFill>
                  </a:tcPr>
                </a:tc>
                <a:tc>
                  <a:txBody>
                    <a:bodyPr wrap="square"/>
                    <a:lstStyle/>
                    <a:p>
                      <a:r>
                        <a:rPr sz="1150" b="0" i="0">
                          <a:solidFill>
                            <a:srgbClr val="212B2E"/>
                          </a:solidFill>
                          <a:latin typeface="Calibri"/>
                        </a:rPr>
                        <a:t>An effective approach of hyperlocal based services in smart cities (2020)</a:t>
                      </a:r>
                    </a:p>
                  </a:txBody>
                  <a:tcPr marL="73152" marR="73152" marT="36576" marB="36576" anchor="ctr">
                    <a:solidFill>
                      <a:srgbClr val="F7FBFB"/>
                    </a:solidFill>
                  </a:tcPr>
                </a:tc>
                <a:tc>
                  <a:txBody>
                    <a:bodyPr wrap="square"/>
                    <a:lstStyle/>
                    <a:p>
                      <a:r>
                        <a:rPr sz="1150" b="0" i="0">
                          <a:solidFill>
                            <a:srgbClr val="212B2E"/>
                          </a:solidFill>
                          <a:latin typeface="Calibri"/>
                        </a:rPr>
                        <a:t>Integrates offline &amp; online systems to optimize local service delivery</a:t>
                      </a:r>
                    </a:p>
                  </a:txBody>
                  <a:tcPr marL="73152" marR="73152" marT="36576" marB="36576" anchor="ctr">
                    <a:solidFill>
                      <a:srgbClr val="F7FBFB"/>
                    </a:solidFill>
                  </a:tcPr>
                </a:tc>
              </a:tr>
              <a:tr h="617220">
                <a:tc>
                  <a:txBody>
                    <a:bodyPr wrap="square"/>
                    <a:lstStyle/>
                    <a:p>
                      <a:r>
                        <a:rPr sz="1150" b="0" i="0">
                          <a:solidFill>
                            <a:srgbClr val="212B2E"/>
                          </a:solidFill>
                          <a:latin typeface="Calibri"/>
                        </a:rPr>
                        <a:t>4</a:t>
                      </a:r>
                    </a:p>
                  </a:txBody>
                  <a:tcPr marL="73152" marR="73152" marT="36576" marB="36576" anchor="ctr">
                    <a:solidFill>
                      <a:srgbClr val="FFFFFF"/>
                    </a:solidFill>
                  </a:tcPr>
                </a:tc>
                <a:tc>
                  <a:txBody>
                    <a:bodyPr wrap="square"/>
                    <a:lstStyle/>
                    <a:p>
                      <a:r>
                        <a:rPr sz="1150" b="0" i="0">
                          <a:solidFill>
                            <a:srgbClr val="212B2E"/>
                          </a:solidFill>
                          <a:latin typeface="Calibri"/>
                        </a:rPr>
                        <a:t>Hyperlocal e-commerce app (2022)</a:t>
                      </a:r>
                    </a:p>
                  </a:txBody>
                  <a:tcPr marL="73152" marR="73152" marT="36576" marB="36576" anchor="ctr">
                    <a:solidFill>
                      <a:srgbClr val="FFFFFF"/>
                    </a:solidFill>
                  </a:tcPr>
                </a:tc>
                <a:tc>
                  <a:txBody>
                    <a:bodyPr wrap="square"/>
                    <a:lstStyle/>
                    <a:p>
                      <a:r>
                        <a:rPr sz="1150" b="0" i="0">
                          <a:solidFill>
                            <a:srgbClr val="212B2E"/>
                          </a:solidFill>
                          <a:latin typeface="Calibri"/>
                        </a:rPr>
                        <a:t>Survey-based study on a marketplace connecting small shopkeepers with customers</a:t>
                      </a:r>
                    </a:p>
                  </a:txBody>
                  <a:tcPr marL="73152" marR="73152" marT="36576" marB="36576" anchor="ctr">
                    <a:solidFill>
                      <a:srgbClr val="FFFFFF"/>
                    </a:solidFill>
                  </a:tcPr>
                </a:tc>
              </a:tr>
              <a:tr h="617220">
                <a:tc>
                  <a:txBody>
                    <a:bodyPr wrap="square"/>
                    <a:lstStyle/>
                    <a:p>
                      <a:r>
                        <a:rPr sz="1150" b="0" i="0">
                          <a:solidFill>
                            <a:srgbClr val="212B2E"/>
                          </a:solidFill>
                          <a:latin typeface="Calibri"/>
                        </a:rPr>
                        <a:t>5</a:t>
                      </a:r>
                    </a:p>
                  </a:txBody>
                  <a:tcPr marL="73152" marR="73152" marT="36576" marB="36576" anchor="ctr">
                    <a:solidFill>
                      <a:srgbClr val="F7FBFB"/>
                    </a:solidFill>
                  </a:tcPr>
                </a:tc>
                <a:tc>
                  <a:txBody>
                    <a:bodyPr wrap="square"/>
                    <a:lstStyle/>
                    <a:p>
                      <a:r>
                        <a:rPr sz="1150" b="0" i="0">
                          <a:solidFill>
                            <a:srgbClr val="212B2E"/>
                          </a:solidFill>
                          <a:latin typeface="Calibri"/>
                        </a:rPr>
                        <a:t>Impact of on-demand home service apps on the gig economy (2025)</a:t>
                      </a:r>
                    </a:p>
                  </a:txBody>
                  <a:tcPr marL="73152" marR="73152" marT="36576" marB="36576" anchor="ctr">
                    <a:solidFill>
                      <a:srgbClr val="F7FBFB"/>
                    </a:solidFill>
                  </a:tcPr>
                </a:tc>
                <a:tc>
                  <a:txBody>
                    <a:bodyPr wrap="square"/>
                    <a:lstStyle/>
                    <a:p>
                      <a:r>
                        <a:rPr sz="1150" b="0" i="0">
                          <a:solidFill>
                            <a:srgbClr val="212B2E"/>
                          </a:solidFill>
                          <a:latin typeface="Calibri"/>
                        </a:rPr>
                        <a:t>Technology and user-centric design principles in on-demand home-service platforms</a:t>
                      </a:r>
                    </a:p>
                  </a:txBody>
                  <a:tcPr marL="73152" marR="73152" marT="36576" marB="36576" anchor="ctr">
                    <a:solidFill>
                      <a:srgbClr val="F7FBFB"/>
                    </a:solidFill>
                  </a:tcPr>
                </a:tc>
              </a:tr>
              <a:tr h="617220">
                <a:tc>
                  <a:txBody>
                    <a:bodyPr wrap="square"/>
                    <a:lstStyle/>
                    <a:p>
                      <a:r>
                        <a:rPr sz="1150" b="0" i="0">
                          <a:solidFill>
                            <a:srgbClr val="212B2E"/>
                          </a:solidFill>
                          <a:latin typeface="Calibri"/>
                        </a:rPr>
                        <a:t>6</a:t>
                      </a:r>
                    </a:p>
                  </a:txBody>
                  <a:tcPr marL="73152" marR="73152" marT="36576" marB="36576" anchor="ctr">
                    <a:solidFill>
                      <a:srgbClr val="FFFFFF"/>
                    </a:solidFill>
                  </a:tcPr>
                </a:tc>
                <a:tc>
                  <a:txBody>
                    <a:bodyPr wrap="square"/>
                    <a:lstStyle/>
                    <a:p>
                      <a:r>
                        <a:rPr sz="1150" b="0" i="0">
                          <a:solidFill>
                            <a:srgbClr val="212B2E"/>
                          </a:solidFill>
                          <a:latin typeface="Calibri"/>
                        </a:rPr>
                        <a:t>Impact of app-based gig work in India (2025)</a:t>
                      </a:r>
                    </a:p>
                  </a:txBody>
                  <a:tcPr marL="73152" marR="73152" marT="36576" marB="36576" anchor="ctr">
                    <a:solidFill>
                      <a:srgbClr val="FFFFFF"/>
                    </a:solidFill>
                  </a:tcPr>
                </a:tc>
                <a:tc>
                  <a:txBody>
                    <a:bodyPr wrap="square"/>
                    <a:lstStyle/>
                    <a:p>
                      <a:r>
                        <a:rPr sz="1150" b="0" i="0">
                          <a:solidFill>
                            <a:srgbClr val="212B2E"/>
                          </a:solidFill>
                          <a:latin typeface="Calibri"/>
                        </a:rPr>
                        <a:t>Labour market dynamics and challenges faced by app-based gig workers</a:t>
                      </a:r>
                    </a:p>
                  </a:txBody>
                  <a:tcPr marL="73152" marR="73152" marT="36576" marB="36576" anchor="ctr">
                    <a:solidFill>
                      <a:srgbClr val="FFFFFF"/>
                    </a:solidFill>
                  </a:tcPr>
                </a:tc>
              </a:tr>
              <a:tr h="617220">
                <a:tc>
                  <a:txBody>
                    <a:bodyPr wrap="square"/>
                    <a:lstStyle/>
                    <a:p>
                      <a:r>
                        <a:rPr sz="1150" b="0" i="0">
                          <a:solidFill>
                            <a:srgbClr val="212B2E"/>
                          </a:solidFill>
                          <a:latin typeface="Calibri"/>
                        </a:rPr>
                        <a:t>7</a:t>
                      </a:r>
                    </a:p>
                  </a:txBody>
                  <a:tcPr marL="73152" marR="73152" marT="36576" marB="36576" anchor="ctr">
                    <a:solidFill>
                      <a:srgbClr val="F7FBFB"/>
                    </a:solidFill>
                  </a:tcPr>
                </a:tc>
                <a:tc>
                  <a:txBody>
                    <a:bodyPr wrap="square"/>
                    <a:lstStyle/>
                    <a:p>
                      <a:r>
                        <a:rPr sz="1150" b="0" i="0">
                          <a:solidFill>
                            <a:srgbClr val="212B2E"/>
                          </a:solidFill>
                          <a:latin typeface="Calibri"/>
                        </a:rPr>
                        <a:t>Service deployment in the on-demand economy (2024)</a:t>
                      </a:r>
                    </a:p>
                  </a:txBody>
                  <a:tcPr marL="73152" marR="73152" marT="36576" marB="36576" anchor="ctr">
                    <a:solidFill>
                      <a:srgbClr val="F7FBFB"/>
                    </a:solidFill>
                  </a:tcPr>
                </a:tc>
                <a:tc>
                  <a:txBody>
                    <a:bodyPr wrap="square"/>
                    <a:lstStyle/>
                    <a:p>
                      <a:r>
                        <a:rPr sz="1150" b="0" i="0">
                          <a:solidFill>
                            <a:srgbClr val="212B2E"/>
                          </a:solidFill>
                          <a:latin typeface="Calibri"/>
                        </a:rPr>
                        <a:t>Employee vs. independent-contractor models for on-demand platforms</a:t>
                      </a:r>
                    </a:p>
                  </a:txBody>
                  <a:tcPr marL="73152" marR="73152" marT="36576" marB="36576" anchor="ctr">
                    <a:solidFill>
                      <a:srgbClr val="F7FB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Research Gap</a:t>
            </a:r>
          </a:p>
        </p:txBody>
      </p:sp>
      <p:sp>
        <p:nvSpPr>
          <p:cNvPr id="3" name="TextBox 2"/>
          <p:cNvSpPr txBox="1"/>
          <p:nvPr/>
        </p:nvSpPr>
        <p:spPr>
          <a:xfrm>
            <a:off x="457200" y="1417320"/>
            <a:ext cx="8229600" cy="4892040"/>
          </a:xfrm>
          <a:prstGeom prst="rect">
            <a:avLst/>
          </a:prstGeom>
          <a:noFill/>
        </p:spPr>
        <p:txBody>
          <a:bodyPr wrap="square" anchor="t" lIns="0" rIns="0" tIns="0" bIns="0">
            <a:spAutoFit/>
          </a:bodyPr>
          <a:lstStyle/>
          <a:p>
            <a:pPr>
              <a:spcAft>
                <a:spcPts val="1400"/>
              </a:spcAft>
            </a:pPr>
            <a:r>
              <a:rPr sz="1700" b="0" i="0">
                <a:solidFill>
                  <a:srgbClr val="212B2E"/>
                </a:solidFill>
                <a:latin typeface="Calibri"/>
              </a:rPr>
              <a:t>Existing studies focus mainly on marketplace architecture, MVP methodology and gig-worker classification, but do not fully address:</a:t>
            </a:r>
          </a:p>
          <a:p>
            <a:pPr>
              <a:spcAft>
                <a:spcPts val="1000"/>
              </a:spcAft>
            </a:pPr>
            <a:r>
              <a:rPr sz="1600" b="0" i="0">
                <a:solidFill>
                  <a:srgbClr val="212B2E"/>
                </a:solidFill>
                <a:latin typeface="Calibri"/>
              </a:rPr>
              <a:t>•  A true hyperlocal focus for everyday, neighborhood-level services</a:t>
            </a:r>
          </a:p>
          <a:p>
            <a:pPr>
              <a:spcAft>
                <a:spcPts val="1000"/>
              </a:spcAft>
            </a:pPr>
            <a:r>
              <a:rPr sz="1600" b="0" i="0">
                <a:solidFill>
                  <a:srgbClr val="212B2E"/>
                </a:solidFill>
                <a:latin typeface="Calibri"/>
              </a:rPr>
              <a:t>•  Low-commission, worker-friendly models for independent professionals</a:t>
            </a:r>
          </a:p>
          <a:p>
            <a:pPr>
              <a:spcAft>
                <a:spcPts val="1000"/>
              </a:spcAft>
            </a:pPr>
            <a:r>
              <a:rPr sz="1600" b="0" i="0">
                <a:solidFill>
                  <a:srgbClr val="212B2E"/>
                </a:solidFill>
                <a:latin typeface="Calibri"/>
              </a:rPr>
              <a:t>•  Trust-building tools such as verified, portfolio-based profiles</a:t>
            </a:r>
          </a:p>
          <a:p>
            <a:pPr>
              <a:spcAft>
                <a:spcPts val="1000"/>
              </a:spcAft>
            </a:pPr>
            <a:r>
              <a:rPr sz="1600" b="0" i="0">
                <a:solidFill>
                  <a:srgbClr val="212B2E"/>
                </a:solidFill>
                <a:latin typeface="Calibri"/>
              </a:rPr>
              <a:t>•  Dedicated support for emergency / urgent service requests</a:t>
            </a:r>
          </a:p>
          <a:p>
            <a:pPr>
              <a:spcAft>
                <a:spcPts val="1000"/>
              </a:spcAft>
            </a:pPr>
            <a:r>
              <a:rPr sz="1600" b="0" i="0">
                <a:solidFill>
                  <a:srgbClr val="212B2E"/>
                </a:solidFill>
                <a:latin typeface="Calibri"/>
              </a:rPr>
              <a:t>•  A smart, automatic matching system between customers and nearby providers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Formulation</a:t>
            </a:r>
          </a:p>
        </p:txBody>
      </p:sp>
      <p:sp>
        <p:nvSpPr>
          <p:cNvPr id="3" name="Rounded Rectangle 2"/>
          <p:cNvSpPr/>
          <p:nvPr/>
        </p:nvSpPr>
        <p:spPr>
          <a:xfrm>
            <a:off x="457200" y="1417320"/>
            <a:ext cx="3931920" cy="4480560"/>
          </a:xfrm>
          <a:prstGeom prst="roundRect">
            <a:avLst>
              <a:gd name="adj" fmla="val 4000"/>
            </a:avLst>
          </a:prstGeom>
          <a:solidFill>
            <a:srgbClr val="E6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754880" y="1417320"/>
            <a:ext cx="3931920" cy="4480560"/>
          </a:xfrm>
          <a:prstGeom prst="roundRect">
            <a:avLst>
              <a:gd name="adj" fmla="val 4000"/>
            </a:avLst>
          </a:prstGeom>
          <a:solidFill>
            <a:srgbClr val="E6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00200"/>
            <a:ext cx="3474720" cy="4114800"/>
          </a:xfrm>
          <a:prstGeom prst="rect">
            <a:avLst/>
          </a:prstGeom>
          <a:noFill/>
        </p:spPr>
        <p:txBody>
          <a:bodyPr wrap="square" anchor="t" lIns="0" rIns="0" tIns="0" bIns="0">
            <a:spAutoFit/>
          </a:bodyPr>
          <a:lstStyle/>
          <a:p>
            <a:pPr>
              <a:spcAft>
                <a:spcPts val="1400"/>
              </a:spcAft>
            </a:pPr>
            <a:r>
              <a:rPr sz="1800" b="1" i="0">
                <a:solidFill>
                  <a:srgbClr val="028090"/>
                </a:solidFill>
                <a:latin typeface="Calibri"/>
              </a:rPr>
              <a:t>Customer-side problems</a:t>
            </a:r>
          </a:p>
          <a:p>
            <a:pPr>
              <a:spcAft>
                <a:spcPts val="1200"/>
              </a:spcAft>
            </a:pPr>
            <a:r>
              <a:rPr sz="1450" b="0" i="0">
                <a:solidFill>
                  <a:srgbClr val="212B2E"/>
                </a:solidFill>
                <a:latin typeface="Calibri"/>
              </a:rPr>
              <a:t>•  Difficult to find reliable local service providers</a:t>
            </a:r>
          </a:p>
          <a:p>
            <a:pPr>
              <a:spcAft>
                <a:spcPts val="1200"/>
              </a:spcAft>
            </a:pPr>
            <a:r>
              <a:rPr sz="1450" b="0" i="0">
                <a:solidFill>
                  <a:srgbClr val="212B2E"/>
                </a:solidFill>
                <a:latin typeface="Calibri"/>
              </a:rPr>
              <a:t>•  Time-consuming to search through social media and ads</a:t>
            </a:r>
          </a:p>
          <a:p>
            <a:pPr>
              <a:spcAft>
                <a:spcPts val="1200"/>
              </a:spcAft>
            </a:pPr>
            <a:r>
              <a:rPr sz="1450" b="0" i="0">
                <a:solidFill>
                  <a:srgbClr val="212B2E"/>
                </a:solidFill>
                <a:latin typeface="Calibri"/>
              </a:rPr>
              <a:t>•  Lack of transparency in pricing</a:t>
            </a:r>
          </a:p>
          <a:p>
            <a:pPr>
              <a:spcAft>
                <a:spcPts val="1200"/>
              </a:spcAft>
            </a:pPr>
            <a:r>
              <a:rPr sz="1450" b="0" i="0">
                <a:solidFill>
                  <a:srgbClr val="212B2E"/>
                </a:solidFill>
                <a:latin typeface="Calibri"/>
              </a:rPr>
              <a:t>•  Risk of delayed service during emergencies</a:t>
            </a:r>
          </a:p>
        </p:txBody>
      </p:sp>
      <p:sp>
        <p:nvSpPr>
          <p:cNvPr id="6" name="TextBox 5"/>
          <p:cNvSpPr txBox="1"/>
          <p:nvPr/>
        </p:nvSpPr>
        <p:spPr>
          <a:xfrm>
            <a:off x="4983480" y="1600200"/>
            <a:ext cx="3474720" cy="4114800"/>
          </a:xfrm>
          <a:prstGeom prst="rect">
            <a:avLst/>
          </a:prstGeom>
          <a:noFill/>
        </p:spPr>
        <p:txBody>
          <a:bodyPr wrap="square" anchor="t" lIns="0" rIns="0" tIns="0" bIns="0">
            <a:spAutoFit/>
          </a:bodyPr>
          <a:lstStyle/>
          <a:p>
            <a:pPr>
              <a:spcAft>
                <a:spcPts val="1400"/>
              </a:spcAft>
            </a:pPr>
            <a:r>
              <a:rPr sz="1800" b="1" i="0">
                <a:solidFill>
                  <a:srgbClr val="028090"/>
                </a:solidFill>
                <a:latin typeface="Calibri"/>
              </a:rPr>
              <a:t>Service provider-side problems</a:t>
            </a:r>
          </a:p>
          <a:p>
            <a:pPr>
              <a:spcAft>
                <a:spcPts val="1200"/>
              </a:spcAft>
            </a:pPr>
            <a:r>
              <a:rPr sz="1450" b="0" i="0">
                <a:solidFill>
                  <a:srgbClr val="212B2E"/>
                </a:solidFill>
                <a:latin typeface="Calibri"/>
              </a:rPr>
              <a:t>•  Limited opportunities to showcase their work</a:t>
            </a:r>
          </a:p>
          <a:p>
            <a:pPr>
              <a:spcAft>
                <a:spcPts val="1200"/>
              </a:spcAft>
            </a:pPr>
            <a:r>
              <a:rPr sz="1450" b="0" i="0">
                <a:solidFill>
                  <a:srgbClr val="212B2E"/>
                </a:solidFill>
                <a:latin typeface="Calibri"/>
              </a:rPr>
              <a:t>•  High commission charged by existing platforms</a:t>
            </a:r>
          </a:p>
          <a:p>
            <a:pPr>
              <a:spcAft>
                <a:spcPts val="1200"/>
              </a:spcAft>
            </a:pPr>
            <a:r>
              <a:rPr sz="1450" b="0" i="0">
                <a:solidFill>
                  <a:srgbClr val="212B2E"/>
                </a:solidFill>
                <a:latin typeface="Calibri"/>
              </a:rPr>
              <a:t>•  Many skilled workers remain unnoticed despite having the skills</a:t>
            </a:r>
          </a:p>
          <a:p>
            <a:pPr>
              <a:spcAft>
                <a:spcPts val="1200"/>
              </a:spcAft>
            </a:pPr>
            <a:r>
              <a:rPr sz="1450" b="0" i="0">
                <a:solidFill>
                  <a:srgbClr val="212B2E"/>
                </a:solidFill>
                <a:latin typeface="Calibri"/>
              </a:rPr>
              <a:t>•  Little to no digital presence to attract new customers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Proposed Solution</a:t>
            </a:r>
          </a:p>
        </p:txBody>
      </p:sp>
      <p:sp>
        <p:nvSpPr>
          <p:cNvPr id="3" name="TextBox 2"/>
          <p:cNvSpPr txBox="1"/>
          <p:nvPr/>
        </p:nvSpPr>
        <p:spPr>
          <a:xfrm>
            <a:off x="457200" y="1417320"/>
            <a:ext cx="8229600" cy="1463040"/>
          </a:xfrm>
          <a:prstGeom prst="rect">
            <a:avLst/>
          </a:prstGeom>
          <a:noFill/>
        </p:spPr>
        <p:txBody>
          <a:bodyPr wrap="square" anchor="t" lIns="0" rIns="0" tIns="0" bIns="0">
            <a:spAutoFit/>
          </a:bodyPr>
          <a:lstStyle/>
          <a:p>
            <a:r>
              <a:rPr sz="1650" b="0" i="0">
                <a:solidFill>
                  <a:srgbClr val="212B2E"/>
                </a:solidFill>
                <a:latin typeface="Calibri"/>
              </a:rPr>
              <a:t>Saviyo is a mobile application that connects customers with nearby local services and skilled workers. It helps users discover and book services, while giving local service providers an opportunity to grow and build their business digitally.</a:t>
            </a:r>
          </a:p>
        </p:txBody>
      </p:sp>
      <p:sp>
        <p:nvSpPr>
          <p:cNvPr id="4" name="TextBox 3"/>
          <p:cNvSpPr txBox="1"/>
          <p:nvPr/>
        </p:nvSpPr>
        <p:spPr>
          <a:xfrm>
            <a:off x="457200" y="2971800"/>
            <a:ext cx="8229600" cy="3291840"/>
          </a:xfrm>
          <a:prstGeom prst="rect">
            <a:avLst/>
          </a:prstGeom>
          <a:noFill/>
        </p:spPr>
        <p:txBody>
          <a:bodyPr wrap="square" anchor="t" lIns="0" rIns="0" tIns="0" bIns="0">
            <a:spAutoFit/>
          </a:bodyPr>
          <a:lstStyle/>
          <a:p>
            <a:pPr>
              <a:spcAft>
                <a:spcPts val="1200"/>
              </a:spcAft>
            </a:pPr>
            <a:r>
              <a:rPr sz="1800" b="1" i="0">
                <a:solidFill>
                  <a:srgbClr val="028090"/>
                </a:solidFill>
                <a:latin typeface="Calibri"/>
              </a:rPr>
              <a:t>Key Features</a:t>
            </a:r>
          </a:p>
          <a:p>
            <a:pPr>
              <a:spcAft>
                <a:spcPts val="1100"/>
              </a:spcAft>
            </a:pPr>
            <a:r>
              <a:rPr sz="1550" b="0" i="0">
                <a:solidFill>
                  <a:srgbClr val="212B2E"/>
                </a:solidFill>
                <a:latin typeface="Calibri"/>
              </a:rPr>
              <a:t>•  Hyperlocal focus - connects with nearby local communities, not just big cities</a:t>
            </a:r>
          </a:p>
          <a:p>
            <a:pPr>
              <a:spcAft>
                <a:spcPts val="1100"/>
              </a:spcAft>
            </a:pPr>
            <a:r>
              <a:rPr sz="1550" b="0" i="0">
                <a:solidFill>
                  <a:srgbClr val="212B2E"/>
                </a:solidFill>
                <a:latin typeface="Calibri"/>
              </a:rPr>
              <a:t>•  Detailed, portfolio-based profiles to build customer trust</a:t>
            </a:r>
          </a:p>
          <a:p>
            <a:pPr>
              <a:spcAft>
                <a:spcPts val="1100"/>
              </a:spcAft>
            </a:pPr>
            <a:r>
              <a:rPr sz="1550" b="0" i="0">
                <a:solidFill>
                  <a:srgbClr val="212B2E"/>
                </a:solidFill>
                <a:latin typeface="Calibri"/>
              </a:rPr>
              <a:t>•  Emergency service support for urgent needs</a:t>
            </a:r>
          </a:p>
          <a:p>
            <a:pPr>
              <a:spcAft>
                <a:spcPts val="1100"/>
              </a:spcAft>
            </a:pPr>
            <a:r>
              <a:rPr sz="1550" b="0" i="0">
                <a:solidFill>
                  <a:srgbClr val="212B2E"/>
                </a:solidFill>
                <a:latin typeface="Calibri"/>
              </a:rPr>
              <a:t>•  Smart-matching system connecting the right customer with the right provider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E2AAD-35AF-BD30-99BE-431CF2538C18}"/>
              </a:ext>
            </a:extLst>
          </p:cNvPr>
          <p:cNvSpPr>
            <a:spLocks noGrp="1"/>
          </p:cNvSpPr>
          <p:nvPr>
            <p:ph type="title"/>
          </p:nvPr>
        </p:nvSpPr>
        <p:spPr/>
        <p:txBody>
          <a:bodyPr/>
          <a:lstStyle/>
          <a:p>
            <a:r>
              <a:rPr lang="en-IN" dirty="0"/>
              <a:t>Expected Outcomes</a:t>
            </a:r>
          </a:p>
        </p:txBody>
      </p:sp>
      <p:graphicFrame>
        <p:nvGraphicFramePr>
          <p:cNvPr id="3" name="Table 2"/>
          <p:cNvGraphicFramePr>
            <a:graphicFrameLocks noGrp="1"/>
          </p:cNvGraphicFramePr>
          <p:nvPr/>
        </p:nvGraphicFramePr>
        <p:xfrm>
          <a:off x="457200" y="1417320"/>
          <a:ext cx="8229600" cy="1645920"/>
        </p:xfrm>
        <a:graphic>
          <a:graphicData uri="http://schemas.openxmlformats.org/drawingml/2006/table">
            <a:tbl>
              <a:tblPr firstRow="1" bandRow="1">
                <a:tableStyleId>{5C22544A-7EE6-4342-B048-85BDC9FD1C3A}</a:tableStyleId>
              </a:tblPr>
              <a:tblGrid>
                <a:gridCol w="4114800"/>
                <a:gridCol w="4114800"/>
              </a:tblGrid>
              <a:tr h="548640">
                <a:tc>
                  <a:txBody>
                    <a:bodyPr wrap="square"/>
                    <a:lstStyle/>
                    <a:p>
                      <a:r>
                        <a:rPr sz="1600" b="1" i="0">
                          <a:solidFill>
                            <a:srgbClr val="FFFFFF"/>
                          </a:solidFill>
                          <a:latin typeface="Calibri"/>
                        </a:rPr>
                        <a:t>Customers</a:t>
                      </a:r>
                    </a:p>
                  </a:txBody>
                  <a:tcPr marL="73152" marR="73152" marT="36576" marB="36576" anchor="ctr">
                    <a:solidFill>
                      <a:srgbClr val="028090"/>
                    </a:solidFill>
                  </a:tcPr>
                </a:tc>
                <a:tc>
                  <a:txBody>
                    <a:bodyPr wrap="square"/>
                    <a:lstStyle/>
                    <a:p>
                      <a:r>
                        <a:rPr sz="1600" b="1" i="0">
                          <a:solidFill>
                            <a:srgbClr val="FFFFFF"/>
                          </a:solidFill>
                          <a:latin typeface="Calibri"/>
                        </a:rPr>
                        <a:t>Service Providers</a:t>
                      </a:r>
                    </a:p>
                  </a:txBody>
                  <a:tcPr marL="73152" marR="73152" marT="36576" marB="36576" anchor="ctr">
                    <a:solidFill>
                      <a:srgbClr val="028090"/>
                    </a:solidFill>
                  </a:tcPr>
                </a:tc>
              </a:tr>
              <a:tr h="548640">
                <a:tc>
                  <a:txBody>
                    <a:bodyPr wrap="square"/>
                    <a:lstStyle/>
                    <a:p>
                      <a:r>
                        <a:rPr sz="1500" b="0" i="0">
                          <a:solidFill>
                            <a:srgbClr val="212B2E"/>
                          </a:solidFill>
                          <a:latin typeface="Calibri"/>
                        </a:rPr>
                        <a:t>Convenient booking process</a:t>
                      </a:r>
                    </a:p>
                  </a:txBody>
                  <a:tcPr marL="73152" marR="73152" marT="36576" marB="36576" anchor="ctr">
                    <a:solidFill>
                      <a:srgbClr val="F7FBFB"/>
                    </a:solidFill>
                  </a:tcPr>
                </a:tc>
                <a:tc>
                  <a:txBody>
                    <a:bodyPr wrap="square"/>
                    <a:lstStyle/>
                    <a:p>
                      <a:r>
                        <a:rPr sz="1500" b="0" i="0">
                          <a:solidFill>
                            <a:srgbClr val="212B2E"/>
                          </a:solidFill>
                          <a:latin typeface="Calibri"/>
                        </a:rPr>
                        <a:t>Easy to find customers</a:t>
                      </a:r>
                    </a:p>
                  </a:txBody>
                  <a:tcPr marL="73152" marR="73152" marT="36576" marB="36576" anchor="ctr">
                    <a:solidFill>
                      <a:srgbClr val="F7FBFB"/>
                    </a:solidFill>
                  </a:tcPr>
                </a:tc>
              </a:tr>
              <a:tr h="548640">
                <a:tc>
                  <a:txBody>
                    <a:bodyPr wrap="square"/>
                    <a:lstStyle/>
                    <a:p>
                      <a:r>
                        <a:rPr sz="1500" b="0" i="0">
                          <a:solidFill>
                            <a:srgbClr val="212B2E"/>
                          </a:solidFill>
                          <a:latin typeface="Calibri"/>
                        </a:rPr>
                        <a:t>Fast response during emergencies</a:t>
                      </a:r>
                    </a:p>
                  </a:txBody>
                  <a:tcPr marL="73152" marR="73152" marT="36576" marB="36576" anchor="ctr">
                    <a:solidFill>
                      <a:srgbClr val="FFFFFF"/>
                    </a:solidFill>
                  </a:tcPr>
                </a:tc>
                <a:tc>
                  <a:txBody>
                    <a:bodyPr wrap="square"/>
                    <a:lstStyle/>
                    <a:p>
                      <a:r>
                        <a:rPr sz="1500" b="0" i="0">
                          <a:solidFill>
                            <a:srgbClr val="212B2E"/>
                          </a:solidFill>
                          <a:latin typeface="Calibri"/>
                        </a:rPr>
                        <a:t>Business growth and steady earnings</a:t>
                      </a:r>
                    </a:p>
                  </a:txBody>
                  <a:tcPr marL="73152" marR="73152" marT="36576" marB="36576" anchor="ctr">
                    <a:solidFill>
                      <a:srgbClr val="FFFFFF"/>
                    </a:solidFill>
                  </a:tcPr>
                </a:tc>
              </a:tr>
            </a:tbl>
          </a:graphicData>
        </a:graphic>
      </p:graphicFrame>
      <p:sp>
        <p:nvSpPr>
          <p:cNvPr id="4" name="TextBox 3"/>
          <p:cNvSpPr txBox="1"/>
          <p:nvPr/>
        </p:nvSpPr>
        <p:spPr>
          <a:xfrm>
            <a:off x="457200" y="3337560"/>
            <a:ext cx="8229600" cy="2743200"/>
          </a:xfrm>
          <a:prstGeom prst="rect">
            <a:avLst/>
          </a:prstGeom>
          <a:noFill/>
        </p:spPr>
        <p:txBody>
          <a:bodyPr wrap="square" anchor="t" lIns="0" rIns="0" tIns="0" bIns="0">
            <a:spAutoFit/>
          </a:bodyPr>
          <a:lstStyle/>
          <a:p>
            <a:pPr>
              <a:spcAft>
                <a:spcPts val="1000"/>
              </a:spcAft>
            </a:pPr>
            <a:r>
              <a:rPr sz="1800" b="1" i="0">
                <a:solidFill>
                  <a:srgbClr val="028090"/>
                </a:solidFill>
                <a:latin typeface="Calibri"/>
              </a:rPr>
              <a:t>Expected Impact</a:t>
            </a:r>
          </a:p>
          <a:p>
            <a:pPr>
              <a:spcAft>
                <a:spcPts val="800"/>
              </a:spcAft>
            </a:pPr>
            <a:r>
              <a:rPr sz="1500" b="0" i="0">
                <a:solidFill>
                  <a:srgbClr val="212B2E"/>
                </a:solidFill>
                <a:latin typeface="Calibri"/>
              </a:rPr>
              <a:t>•  Stronger local economy</a:t>
            </a:r>
          </a:p>
          <a:p>
            <a:pPr>
              <a:spcAft>
                <a:spcPts val="800"/>
              </a:spcAft>
            </a:pPr>
            <a:r>
              <a:rPr sz="1500" b="0" i="0">
                <a:solidFill>
                  <a:srgbClr val="212B2E"/>
                </a:solidFill>
                <a:latin typeface="Calibri"/>
              </a:rPr>
              <a:t>•  Better employment opportunities</a:t>
            </a:r>
          </a:p>
          <a:p>
            <a:pPr>
              <a:spcAft>
                <a:spcPts val="800"/>
              </a:spcAft>
            </a:pPr>
            <a:r>
              <a:rPr sz="1500" b="0" i="0">
                <a:solidFill>
                  <a:srgbClr val="212B2E"/>
                </a:solidFill>
                <a:latin typeface="Calibri"/>
              </a:rPr>
              <a:t>•  Increased trust between customers and providers</a:t>
            </a:r>
          </a:p>
          <a:p>
            <a:pPr>
              <a:spcAft>
                <a:spcPts val="800"/>
              </a:spcAft>
            </a:pPr>
            <a:r>
              <a:rPr sz="1500" b="0" i="0">
                <a:solidFill>
                  <a:srgbClr val="212B2E"/>
                </a:solidFill>
                <a:latin typeface="Calibri"/>
              </a:rPr>
              <a:t>•  Easier access to local services</a:t>
            </a:r>
          </a:p>
          <a:p>
            <a:pPr>
              <a:spcAft>
                <a:spcPts val="800"/>
              </a:spcAft>
            </a:pPr>
            <a:r>
              <a:rPr sz="1500" b="0" i="0">
                <a:solidFill>
                  <a:srgbClr val="212B2E"/>
                </a:solidFill>
                <a:latin typeface="Calibri"/>
              </a:rPr>
              <a:t>•  Faster service access even during emergencies</a:t>
            </a:r>
          </a:p>
        </p:txBody>
      </p:sp>
    </p:spTree>
    <p:extLst>
      <p:ext uri="{BB962C8B-B14F-4D97-AF65-F5344CB8AC3E}">
        <p14:creationId xmlns:p14="http://schemas.microsoft.com/office/powerpoint/2010/main" val="2849546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TextBox 2"/>
          <p:cNvSpPr txBox="1"/>
          <p:nvPr/>
        </p:nvSpPr>
        <p:spPr>
          <a:xfrm>
            <a:off x="457200" y="1965960"/>
            <a:ext cx="8229600" cy="3200400"/>
          </a:xfrm>
          <a:prstGeom prst="rect">
            <a:avLst/>
          </a:prstGeom>
          <a:noFill/>
        </p:spPr>
        <p:txBody>
          <a:bodyPr wrap="square" anchor="t" lIns="0" rIns="0" tIns="0" bIns="0">
            <a:spAutoFit/>
          </a:bodyPr>
          <a:lstStyle/>
          <a:p>
            <a:pPr algn="l"/>
            <a:r>
              <a:rPr sz="1900" b="0" i="0">
                <a:solidFill>
                  <a:srgbClr val="212B2E"/>
                </a:solidFill>
                <a:latin typeface="Calibri"/>
              </a:rPr>
              <a:t>We have discussed the key problems faced by customers and local service providers, and how Saviyo can solve them. Saviyo aims to bridge the gap between local service providers and customers - making service booking faster, more transparent and more convenient for everyone.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TextBox 2"/>
          <p:cNvSpPr txBox="1"/>
          <p:nvPr/>
        </p:nvSpPr>
        <p:spPr>
          <a:xfrm>
            <a:off x="457200" y="1417320"/>
            <a:ext cx="8229600" cy="4892040"/>
          </a:xfrm>
          <a:prstGeom prst="rect">
            <a:avLst/>
          </a:prstGeom>
          <a:noFill/>
        </p:spPr>
        <p:txBody>
          <a:bodyPr wrap="square" anchor="t" lIns="0" rIns="0" tIns="0" bIns="0">
            <a:spAutoFit/>
          </a:bodyPr>
          <a:lstStyle/>
          <a:p>
            <a:pPr>
              <a:spcAft>
                <a:spcPts val="1000"/>
              </a:spcAft>
            </a:pPr>
            <a:r>
              <a:rPr sz="1350" b="0" i="0">
                <a:solidFill>
                  <a:srgbClr val="212B2E"/>
                </a:solidFill>
                <a:latin typeface="Calibri"/>
              </a:rPr>
              <a:t>[1]  "Hyperlocal marketplace: transforming unorganized localized marketplace with future tech," in Proc. IEEE Conf., 2024.</a:t>
            </a:r>
          </a:p>
          <a:p>
            <a:pPr>
              <a:spcAft>
                <a:spcPts val="1000"/>
              </a:spcAft>
            </a:pPr>
            <a:r>
              <a:rPr sz="1350" b="0" i="0">
                <a:solidFill>
                  <a:srgbClr val="212B2E"/>
                </a:solidFill>
                <a:latin typeface="Calibri"/>
              </a:rPr>
              <a:t>[2]  E. K. Budiarjo et al., "Minimum viable product analysis in hyperlocal marketplace applications using customer development method," in Proc. IEEE Conf., 2022.</a:t>
            </a:r>
          </a:p>
          <a:p>
            <a:pPr>
              <a:spcAft>
                <a:spcPts val="1000"/>
              </a:spcAft>
            </a:pPr>
            <a:r>
              <a:rPr sz="1350" b="0" i="0">
                <a:solidFill>
                  <a:srgbClr val="212B2E"/>
                </a:solidFill>
                <a:latin typeface="Calibri"/>
              </a:rPr>
              <a:t>[3]  "An effective approach of hyperlocal based services in smart cities," Int. Res. J. Eng. Technol. (IRJET), vol. 7, no. 11, pp. 129-132, Nov. 2020.</a:t>
            </a:r>
          </a:p>
          <a:p>
            <a:pPr>
              <a:spcAft>
                <a:spcPts val="1000"/>
              </a:spcAft>
            </a:pPr>
            <a:r>
              <a:rPr sz="1350" b="0" i="0">
                <a:solidFill>
                  <a:srgbClr val="212B2E"/>
                </a:solidFill>
                <a:latin typeface="Calibri"/>
              </a:rPr>
              <a:t>[4]  "Hyperlocal e-commerce app," Int. J. Emerg. Technol. Innov. Res. (IJETIR), vol. 9, no. 6, pp. d103-d106, Jun. 2022.</a:t>
            </a:r>
          </a:p>
          <a:p>
            <a:pPr>
              <a:spcAft>
                <a:spcPts val="1000"/>
              </a:spcAft>
            </a:pPr>
            <a:r>
              <a:rPr sz="1350" b="0" i="0">
                <a:solidFill>
                  <a:srgbClr val="212B2E"/>
                </a:solidFill>
                <a:latin typeface="Calibri"/>
              </a:rPr>
              <a:t>[5]  "The impact of on-demand home service apps on the gig economy: A case study analysis," 2025.</a:t>
            </a:r>
          </a:p>
          <a:p>
            <a:pPr>
              <a:spcAft>
                <a:spcPts val="1000"/>
              </a:spcAft>
            </a:pPr>
            <a:r>
              <a:rPr sz="1350" b="0" i="0">
                <a:solidFill>
                  <a:srgbClr val="212B2E"/>
                </a:solidFill>
                <a:latin typeface="Calibri"/>
              </a:rPr>
              <a:t>[6]  "The impact of app-based gig work in India," Int. J. Novel Res. Dev. (IJNRD), 2025.</a:t>
            </a:r>
          </a:p>
          <a:p>
            <a:pPr>
              <a:spcAft>
                <a:spcPts val="1000"/>
              </a:spcAft>
            </a:pPr>
            <a:r>
              <a:rPr sz="1350" b="0" i="0">
                <a:solidFill>
                  <a:srgbClr val="212B2E"/>
                </a:solidFill>
                <a:latin typeface="Calibri"/>
              </a:rPr>
              <a:t>[7]  "Service deployment in the on-demand economy: Employees, contractors, or both?," arXiv:2411.06793, 2024.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2706" y="2739932"/>
            <a:ext cx="8229600" cy="1143000"/>
          </a:xfrm>
        </p:spPr>
        <p:txBody>
          <a:bodyPr/>
          <a:lstStyle/>
          <a:p>
            <a:r>
              <a:rPr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TotalTime>
  <Words>121</Words>
  <Application>Microsoft Office PowerPoint</Application>
  <PresentationFormat>On-screen Show (4:3)</PresentationFormat>
  <Paragraphs>34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Project (BCS-753) Presentation  on TITLE</vt:lpstr>
      <vt:lpstr>Introduction</vt:lpstr>
      <vt:lpstr>Problem Statement</vt:lpstr>
      <vt:lpstr>Objectives</vt:lpstr>
      <vt:lpstr>Literature Survey</vt:lpstr>
      <vt:lpstr>Research Gap</vt:lpstr>
      <vt:lpstr>Problem Formulation</vt:lpstr>
      <vt:lpstr>Proposed Solution</vt:lpstr>
      <vt:lpstr>Expected Outcomes</vt:lpstr>
      <vt:lpstr>Conclusion</vt:lpstr>
      <vt:lpstr>References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Manu Bhatnagar</cp:lastModifiedBy>
  <cp:revision>3</cp:revision>
  <dcterms:created xsi:type="dcterms:W3CDTF">2013-01-27T09:14:16Z</dcterms:created>
  <dcterms:modified xsi:type="dcterms:W3CDTF">2026-07-09T09:27:47Z</dcterms:modified>
  <cp:category/>
</cp:coreProperties>
</file>